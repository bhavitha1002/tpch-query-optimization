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BHWVJEIaItY6gYCBTuCZ7ftdP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67CBBA-C55B-4BC5-A8B3-E4B74AF0016B}">
  <a:tblStyle styleId="{B867CBBA-C55B-4BC5-A8B3-E4B74AF001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bold.fntdata"/><Relationship Id="rId10" Type="http://schemas.openxmlformats.org/officeDocument/2006/relationships/slide" Target="slides/slide5.xml"/><Relationship Id="rId21" Type="http://schemas.openxmlformats.org/officeDocument/2006/relationships/font" Target="fonts/Pla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b03ede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eb03ede6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eb03ede68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eb03ede6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b03ede6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eb03ede68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b03ede6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eb03ede68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b03ede68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eb03ede68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b03ede6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eb03ede68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b03ede6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eb03ede68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b03ede6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eb03ede68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47700" y="1181099"/>
            <a:ext cx="6864724" cy="3581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647700" y="5075227"/>
            <a:ext cx="6864724" cy="868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1981200" y="2362200"/>
            <a:ext cx="76962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1981200" y="5067300"/>
            <a:ext cx="7696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914400" y="1825625"/>
            <a:ext cx="49911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248400" y="1825625"/>
            <a:ext cx="5029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652371" y="647699"/>
            <a:ext cx="10625229" cy="1150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655863" y="1879599"/>
            <a:ext cx="5157787" cy="675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655863" y="2560955"/>
            <a:ext cx="5157787" cy="364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094412" y="1879599"/>
            <a:ext cx="5183188" cy="675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094412" y="2560955"/>
            <a:ext cx="5183188" cy="364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652372" y="647700"/>
            <a:ext cx="411965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540188" y="914400"/>
            <a:ext cx="5737412" cy="502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3200"/>
            </a:lvl1pPr>
            <a:lvl2pPr indent="-36195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00"/>
              <a:buChar char="•"/>
              <a:defRPr sz="28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2400"/>
            </a:lvl3pPr>
            <a:lvl4pPr indent="-32385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2000"/>
            </a:lvl4pPr>
            <a:lvl5pPr indent="-3238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652372" y="2697479"/>
            <a:ext cx="4119654" cy="324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652372" y="647700"/>
            <a:ext cx="411965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486400" y="914400"/>
            <a:ext cx="5791200" cy="50291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652372" y="2697480"/>
            <a:ext cx="4119654" cy="317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4038749" y="-1290878"/>
            <a:ext cx="3848100" cy="10620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484110" y="2150110"/>
            <a:ext cx="5295901" cy="2291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2064815" y="-764745"/>
            <a:ext cx="5295901" cy="812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4325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295275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bstract smoke background" id="85" name="Google Shape;85;p1"/>
          <p:cNvPicPr preferRelativeResize="0"/>
          <p:nvPr/>
        </p:nvPicPr>
        <p:blipFill rotWithShape="1">
          <a:blip r:embed="rId3">
            <a:alphaModFix/>
          </a:blip>
          <a:srcRect b="9013" l="0" r="0" t="6399"/>
          <a:stretch/>
        </p:blipFill>
        <p:spPr>
          <a:xfrm>
            <a:off x="20" y="-4"/>
            <a:ext cx="1219198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3230880"/>
            <a:ext cx="12192000" cy="362712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764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1322415" y="1766148"/>
            <a:ext cx="954716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A RUNTIME AND STRUCTURAL CHARACTERIZATION OF THE BENCHMARK QUERIES IN TPC-H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4425377" y="4797522"/>
            <a:ext cx="3341243" cy="1135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By Bhavitha Sanikommu &amp; Kobe Richards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Why Benchmarking Matters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Standardized way to compare DBMS performance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TPC benchmarks define realistic, repeatable workloads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Why TPC-H?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Long-standing benchmark for analytical and decision-support workloads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Simple schema, but complex queries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Ideal for studying real optimizer and execution-engine behavior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Still widely used in research and industry despite newer alternatives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PROJECT GOAL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Analyze all 22 TPC-H queries from both a runtime and structural perspective.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Identify:</a:t>
            </a:r>
            <a:endParaRPr/>
          </a:p>
          <a:p>
            <a:pPr indent="-2413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Fastest vs. slowest queries</a:t>
            </a:r>
            <a:endParaRPr sz="2000"/>
          </a:p>
          <a:p>
            <a:pPr indent="-2413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Outliers &amp; consistent patterns</a:t>
            </a:r>
            <a:endParaRPr sz="2000"/>
          </a:p>
          <a:p>
            <a:pPr indent="-2413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Structural reasons behind performance differences</a:t>
            </a:r>
            <a:endParaRPr sz="2000"/>
          </a:p>
          <a:p>
            <a:pPr indent="0" lvl="1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Compare findings to known TPC-H choke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Understand how query composition shapes DBMS behavior.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TPC-H Overview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8 tables, normalized schema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22 analytical SQL queries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Dbgen/qgen for scalable &amp; parameterized workloads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What Makes TPC-H Complex?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Multi-way joins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Heavy aggregation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Correlated subqueries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 precomputed summaries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Tests join ordering, cardinality estimation, &amp; memory behavior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RELATED WORK – OTHER BENCHMARKS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Overview of Decision Support Benchmarks (Barata et al.)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TPC-DS: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large schema, 99 queries, very complex OLAP workloads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SSB: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simplified star schema, derived from TPC-H, easier to implement but still OLAP-focused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Why TPC-H is Still Used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Simpler schema and smaller query set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Still exercises core OLAP operations (join, aggregates, filters)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Remains a standard baseline in papers and systems comparisons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RELATED WORK – CHOKE POINTS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TPC-H Analyzed (Boncz et al.)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Identifies 28 choke points: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Hard join ordering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Correlated subqueries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Large aggregations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Poor data locality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Quantifying Choke Points (Dreseler et al.)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Optimizations have huge impact: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Subquery flattening 🡪 5x speedups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Predicate pushdown 🡪 significantly smaller intermediates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652371" y="448195"/>
            <a:ext cx="10625229" cy="698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RELATED WORK – TPC-H VARIANTS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652371" y="1413164"/>
            <a:ext cx="10620855" cy="47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Adding a Temporal Dimension (Al-Kateb et al.)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Adds valid-time &amp; transaction-time columns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Temporal joins get more expensive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Introducing Skew (Crolette et al.)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Injects realistic or synthetic data skew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Exposes optimizer instability &amp; load imbalance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Reduced TPC-H Benchmark (Vandierendonck et al.)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5-6 query subsets can approximate full benchmark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PCA shows many queries are redundant</a:t>
            </a:r>
            <a:endParaRPr/>
          </a:p>
          <a:p>
            <a:pPr indent="-140493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b03ede68_1_0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/>
          </a:p>
        </p:txBody>
      </p:sp>
      <p:sp>
        <p:nvSpPr>
          <p:cNvPr id="130" name="Google Shape;130;g3aeb03ede68_1_0"/>
          <p:cNvSpPr txBox="1"/>
          <p:nvPr>
            <p:ph idx="1" type="body"/>
          </p:nvPr>
        </p:nvSpPr>
        <p:spPr>
          <a:xfrm>
            <a:off x="652371" y="1413164"/>
            <a:ext cx="10620900" cy="4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Database Environment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SQLite v3.x with TPC-H benchmark (SF1, ~1GB): 8 tables from 5 to 6M rows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Primary key constraints only; SSD storage; cold-start measurements (OS cache cleared)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Execution &amp;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 22 queries run 3× with median time recorded; structural analysis via EXPLAIN QUERY PLAN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Optimization applied to slowest queries (Q17, Q20, Q22): CTE-based subquery elimination, join flattening, predicate reorganization with result verification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b03ede68_1_77"/>
          <p:cNvSpPr txBox="1"/>
          <p:nvPr>
            <p:ph type="title"/>
          </p:nvPr>
        </p:nvSpPr>
        <p:spPr>
          <a:xfrm>
            <a:off x="783450" y="1207650"/>
            <a:ext cx="10625100" cy="44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RESULTS</a:t>
            </a:r>
            <a:endParaRPr sz="6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b03ede68_1_10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QUERY RUNTIME ANALYSIS</a:t>
            </a:r>
            <a:endParaRPr/>
          </a:p>
        </p:txBody>
      </p:sp>
      <p:pic>
        <p:nvPicPr>
          <p:cNvPr id="141" name="Google Shape;141;g3aeb03ede68_1_10" title="query_runtimes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2945"/>
            <a:ext cx="11887201" cy="391209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eb03ede68_1_10"/>
          <p:cNvSpPr txBox="1"/>
          <p:nvPr/>
        </p:nvSpPr>
        <p:spPr>
          <a:xfrm>
            <a:off x="652375" y="5528825"/>
            <a:ext cx="11158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Runtimes for all TPC-H queries, shown in numerical order (left) and sorted from fastest to slowest (right). Both plots use a log-scale y-axis to highlight the wide spread in execution times and the sharp separation between typical queries and the slowest outliers.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b03ede68_1_55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QUERY OPTIMIZATIONS</a:t>
            </a:r>
            <a:endParaRPr/>
          </a:p>
        </p:txBody>
      </p:sp>
      <p:sp>
        <p:nvSpPr>
          <p:cNvPr id="148" name="Google Shape;148;g3aeb03ede68_1_55"/>
          <p:cNvSpPr txBox="1"/>
          <p:nvPr/>
        </p:nvSpPr>
        <p:spPr>
          <a:xfrm>
            <a:off x="516750" y="4846200"/>
            <a:ext cx="11158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versus optimized runtimes of the three slowest queries, showing the impact of subquery flattening and restructuring on execution time.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" name="Google Shape;149;g3aeb03ede68_1_55"/>
          <p:cNvGraphicFramePr/>
          <p:nvPr/>
        </p:nvGraphicFramePr>
        <p:xfrm>
          <a:off x="373100" y="196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{B867CBBA-C55B-4BC5-A8B3-E4B74AF0016B}</a:tableStyleId>
              </a:tblPr>
              <a:tblGrid>
                <a:gridCol w="2861450"/>
                <a:gridCol w="2861450"/>
                <a:gridCol w="2861450"/>
                <a:gridCol w="2861450"/>
              </a:tblGrid>
              <a:tr h="59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Query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Original Runtime (sec)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Optimized Runtime (sec)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Speedup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59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62.5x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8304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232x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12632x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b03ede68_1_69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STRUCTURAL CLASSIFICATION</a:t>
            </a:r>
            <a:endParaRPr/>
          </a:p>
        </p:txBody>
      </p:sp>
      <p:sp>
        <p:nvSpPr>
          <p:cNvPr id="155" name="Google Shape;155;g3aeb03ede68_1_69"/>
          <p:cNvSpPr txBox="1"/>
          <p:nvPr/>
        </p:nvSpPr>
        <p:spPr>
          <a:xfrm>
            <a:off x="652375" y="5845925"/>
            <a:ext cx="11158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classification of the 22 TPC-H queries, grouped by dominant query type and labeled by query ID.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g3aeb03ede68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175" y="1362488"/>
            <a:ext cx="7573494" cy="426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b03ede68_1_20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CHOKE POINT INTERPRETATION</a:t>
            </a:r>
            <a:endParaRPr/>
          </a:p>
        </p:txBody>
      </p:sp>
      <p:sp>
        <p:nvSpPr>
          <p:cNvPr id="162" name="Google Shape;162;g3aeb03ede68_1_20"/>
          <p:cNvSpPr txBox="1"/>
          <p:nvPr>
            <p:ph idx="1" type="body"/>
          </p:nvPr>
        </p:nvSpPr>
        <p:spPr>
          <a:xfrm>
            <a:off x="652371" y="1413164"/>
            <a:ext cx="10620900" cy="4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Choke Point 1: Correlated Subqueries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(Q17, Q20, Q22)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O(n²) nested-loop evaluation; Q22: 2,400s → 0.19s (12,632× speedup) via correlation elimination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Tests subquery decorrelation capability; principle: compute once, use many times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Choke Point 2: Join Order Selection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(10 queries with 3-8 table joins)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5-10× variance from selective filter placement; tests cost-based join enumeration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Choke Point 3: Aggregation Efficiency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(Q1, Q6, Q12, Q14, Q19)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Fast baseline (&lt;10s) with 2-10× system differences; reflects vectorized execution and OLAP vs OLTP optimization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b03ede68_1_30"/>
          <p:cNvSpPr txBox="1"/>
          <p:nvPr>
            <p:ph type="title"/>
          </p:nvPr>
        </p:nvSpPr>
        <p:spPr>
          <a:xfrm>
            <a:off x="652371" y="448195"/>
            <a:ext cx="106251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68" name="Google Shape;168;g3aeb03ede68_1_30"/>
          <p:cNvSpPr txBox="1"/>
          <p:nvPr>
            <p:ph idx="1" type="body"/>
          </p:nvPr>
        </p:nvSpPr>
        <p:spPr>
          <a:xfrm>
            <a:off x="652371" y="1413164"/>
            <a:ext cx="10620900" cy="4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500× runtime spread (1s to 2+ hours) demonstrates TPC-H effectively discriminates database sophistication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Three choke points: correlated subqueries (62.5-12,632× speedup), join ordering (5-10×), aggregation (2-10×)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Query structure often matters more than data volume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Implications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Practitioners: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Check correlated subqueries first when debugging slow queries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Researchers: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Separate optimizer sophistication testing from raw execution speed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TPC-H remains relevant by testing fundamental capabilities that vary widely across systems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b03ede68_1_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bstract smoke background" id="174" name="Google Shape;174;g3aeb03ede68_1_35"/>
          <p:cNvPicPr preferRelativeResize="0"/>
          <p:nvPr/>
        </p:nvPicPr>
        <p:blipFill rotWithShape="1">
          <a:blip r:embed="rId3">
            <a:alphaModFix/>
          </a:blip>
          <a:srcRect b="9017" l="0" r="0" t="6394"/>
          <a:stretch/>
        </p:blipFill>
        <p:spPr>
          <a:xfrm>
            <a:off x="20" y="-4"/>
            <a:ext cx="12191980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aeb03ede68_1_35"/>
          <p:cNvSpPr/>
          <p:nvPr/>
        </p:nvSpPr>
        <p:spPr>
          <a:xfrm>
            <a:off x="0" y="3230880"/>
            <a:ext cx="12192000" cy="3627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7647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6" name="Google Shape;176;g3aeb03ede68_1_35"/>
          <p:cNvSpPr txBox="1"/>
          <p:nvPr>
            <p:ph type="ctrTitle"/>
          </p:nvPr>
        </p:nvSpPr>
        <p:spPr>
          <a:xfrm>
            <a:off x="1322425" y="2258575"/>
            <a:ext cx="95472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THANKS FOR LISTENING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tationVTI">
  <a:themeElements>
    <a:clrScheme name="Citation">
      <a:dk1>
        <a:srgbClr val="000000"/>
      </a:dk1>
      <a:lt1>
        <a:srgbClr val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2025-12-03T20:14:39Z</dcterms:created>
  <dc:creator>Richards, Kobe</dc:creator>
</cp:coreProperties>
</file>